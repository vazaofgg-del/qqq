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9FAF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25B3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658368"/>
            <a:ext cx="4754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B25B34"/>
                </a:solidFill>
                <a:latin typeface="Apto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16736" y="658368"/>
            <a:ext cx="1920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A8491"/>
                </a:solidFill>
                <a:latin typeface="Aptos"/>
              </a:rPr>
              <a:t>CHEMICAL ELEMENT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280160"/>
            <a:ext cx="507492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>
                <a:solidFill>
                  <a:srgbClr val="1F242B"/>
                </a:solidFill>
                <a:latin typeface="Aptos Display"/>
              </a:rPr>
              <a:t>Iron: A Metal That Shaped Our World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834640"/>
            <a:ext cx="2194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25B34"/>
                </a:solidFill>
                <a:latin typeface="Aptos"/>
              </a:rPr>
              <a:t>WHAT IS IRON?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3310128"/>
            <a:ext cx="46634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F242B"/>
                </a:solidFill>
                <a:latin typeface="Aptos"/>
              </a:rPr>
              <a:t>Iron is a strong metal and a chemical element with the symbol Fe.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4041648"/>
            <a:ext cx="4663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646E7A"/>
                </a:solidFill>
                <a:latin typeface="Aptos"/>
              </a:rPr>
              <a:t>It is used in buildings, transport, machines, and many objects around 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5074920"/>
            <a:ext cx="1920240" cy="411480"/>
          </a:xfrm>
          <a:prstGeom prst="roundRect">
            <a:avLst/>
          </a:prstGeom>
          <a:solidFill>
            <a:srgbClr val="F8ECE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189220"/>
            <a:ext cx="1481328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B25B34"/>
                </a:solidFill>
                <a:latin typeface="Aptos"/>
              </a:rPr>
              <a:t>SYMBOL: Fe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60236" y="763524"/>
            <a:ext cx="4992624" cy="5431536"/>
          </a:xfrm>
          <a:prstGeom prst="round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lide1_hero_1965x21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713232"/>
            <a:ext cx="4992624" cy="5431536"/>
          </a:xfrm>
          <a:prstGeom prst="rect">
            <a:avLst/>
          </a:prstGeom>
          <a:ln w="12700">
            <a:solidFill>
              <a:srgbClr val="E1E5EA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713232" y="6419088"/>
            <a:ext cx="41148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A8491"/>
                </a:solidFill>
                <a:latin typeface="Aptos"/>
              </a:rPr>
              <a:t>Iron in Everyday Life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19088"/>
            <a:ext cx="8229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7A8491"/>
                </a:solidFill>
                <a:latin typeface="Aptos"/>
              </a:rPr>
              <a:t>Fe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2062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B25B34"/>
                </a:solidFill>
                <a:latin typeface="Apto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61872" y="420624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A8491"/>
                </a:solidFill>
                <a:latin typeface="Aptos"/>
              </a:rPr>
              <a:t>IRON AS AN ELEMENT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86384"/>
            <a:ext cx="57150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42B"/>
                </a:solidFill>
                <a:latin typeface="Aptos Display"/>
              </a:rPr>
              <a:t>A closer look at iron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490472"/>
            <a:ext cx="914400" cy="50292"/>
          </a:xfrm>
          <a:prstGeom prst="rect">
            <a:avLst/>
          </a:prstGeom>
          <a:solidFill>
            <a:srgbClr val="B25B3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13232" y="1901952"/>
            <a:ext cx="55321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103120"/>
            <a:ext cx="329184" cy="329184"/>
          </a:xfrm>
          <a:prstGeom prst="roundRect">
            <a:avLst/>
          </a:prstGeom>
          <a:solidFill>
            <a:srgbClr val="F8ECE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80844"/>
            <a:ext cx="146304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B25B34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6464" y="2057400"/>
            <a:ext cx="4544568" cy="493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F242B"/>
                </a:solidFill>
                <a:latin typeface="Aptos"/>
              </a:rPr>
              <a:t>Iron is a chemical element with the symbol Fe and the atomic number 26.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862072"/>
            <a:ext cx="55321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3063240"/>
            <a:ext cx="329184" cy="329184"/>
          </a:xfrm>
          <a:prstGeom prst="roundRect">
            <a:avLst/>
          </a:prstGeom>
          <a:solidFill>
            <a:srgbClr val="F8ECE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140964"/>
            <a:ext cx="146304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B25B34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017520"/>
            <a:ext cx="4544568" cy="493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F242B"/>
                </a:solidFill>
                <a:latin typeface="Aptos"/>
              </a:rPr>
              <a:t>Although it looks simple, it is one of the most common elements on Earth.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22191"/>
            <a:ext cx="55321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4023359"/>
            <a:ext cx="329184" cy="329184"/>
          </a:xfrm>
          <a:prstGeom prst="roundRect">
            <a:avLst/>
          </a:prstGeom>
          <a:solidFill>
            <a:srgbClr val="F8ECE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101083"/>
            <a:ext cx="146304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B25B34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6464" y="3977639"/>
            <a:ext cx="4544568" cy="493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F242B"/>
                </a:solidFill>
                <a:latin typeface="Aptos"/>
              </a:rPr>
              <a:t>In pure form, iron is a grey metal that can be magnetic and reactive.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4782312"/>
            <a:ext cx="55321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4983480"/>
            <a:ext cx="329184" cy="329184"/>
          </a:xfrm>
          <a:prstGeom prst="roundRect">
            <a:avLst/>
          </a:prstGeom>
          <a:solidFill>
            <a:srgbClr val="F8ECE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061204"/>
            <a:ext cx="146304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B25B34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26464" y="4937760"/>
            <a:ext cx="4544568" cy="493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F242B"/>
                </a:solidFill>
                <a:latin typeface="Aptos"/>
              </a:rPr>
              <a:t>Because it easily combines with oxygen, it can form rust when air and water are present.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97980" y="1019556"/>
            <a:ext cx="4736592" cy="2359152"/>
          </a:xfrm>
          <a:prstGeom prst="round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lide2_a_1864x9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969264"/>
            <a:ext cx="4736592" cy="2359152"/>
          </a:xfrm>
          <a:prstGeom prst="rect">
            <a:avLst/>
          </a:prstGeom>
          <a:ln w="12700">
            <a:solidFill>
              <a:srgbClr val="E1E5EA"/>
            </a:solidFill>
          </a:ln>
        </p:spPr>
      </p:pic>
      <p:sp>
        <p:nvSpPr>
          <p:cNvPr id="24" name="Rounded Rectangle 23"/>
          <p:cNvSpPr/>
          <p:nvPr/>
        </p:nvSpPr>
        <p:spPr>
          <a:xfrm>
            <a:off x="6821424" y="2926080"/>
            <a:ext cx="4407407" cy="256032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31152" y="2990088"/>
            <a:ext cx="4187952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525C69"/>
                </a:solidFill>
                <a:latin typeface="Aptos"/>
              </a:rPr>
              <a:t>element sample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97980" y="3726179"/>
            <a:ext cx="4736592" cy="2057400"/>
          </a:xfrm>
          <a:prstGeom prst="round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slide2_b_1864x81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3675887"/>
            <a:ext cx="4736592" cy="2057400"/>
          </a:xfrm>
          <a:prstGeom prst="rect">
            <a:avLst/>
          </a:prstGeom>
          <a:ln w="12700">
            <a:solidFill>
              <a:srgbClr val="E1E5EA"/>
            </a:solidFill>
          </a:ln>
        </p:spPr>
      </p:pic>
      <p:sp>
        <p:nvSpPr>
          <p:cNvPr id="28" name="Rounded Rectangle 27"/>
          <p:cNvSpPr/>
          <p:nvPr/>
        </p:nvSpPr>
        <p:spPr>
          <a:xfrm>
            <a:off x="6821424" y="5330951"/>
            <a:ext cx="4407407" cy="256032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31152" y="5394959"/>
            <a:ext cx="4187952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525C69"/>
                </a:solidFill>
                <a:latin typeface="Aptos"/>
              </a:rPr>
              <a:t>rust on iron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56832" y="5943600"/>
            <a:ext cx="2011680" cy="329184"/>
          </a:xfrm>
          <a:prstGeom prst="roundRect">
            <a:avLst/>
          </a:prstGeom>
          <a:solidFill>
            <a:srgbClr val="F8ECE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0" y="6035040"/>
            <a:ext cx="1600200" cy="82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B25B34"/>
                </a:solidFill>
                <a:latin typeface="Aptos"/>
              </a:rPr>
              <a:t>MINIMAL OVERVIEW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6419088"/>
            <a:ext cx="41148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A8491"/>
                </a:solidFill>
                <a:latin typeface="Aptos"/>
              </a:rPr>
              <a:t>Iron in Everyday Life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419088"/>
            <a:ext cx="8229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7A8491"/>
                </a:solidFill>
                <a:latin typeface="Aptos"/>
              </a:rPr>
              <a:t>Fe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2062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B25B34"/>
                </a:solidFill>
                <a:latin typeface="Apto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61872" y="420624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A8491"/>
                </a:solidFill>
                <a:latin typeface="Aptos"/>
              </a:rPr>
              <a:t>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86384"/>
            <a:ext cx="57150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42B"/>
                </a:solidFill>
                <a:latin typeface="Aptos Display"/>
              </a:rPr>
              <a:t>How people learned to use iron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490472"/>
            <a:ext cx="914400" cy="50292"/>
          </a:xfrm>
          <a:prstGeom prst="rect">
            <a:avLst/>
          </a:prstGeom>
          <a:solidFill>
            <a:srgbClr val="B25B3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13232" y="1901952"/>
            <a:ext cx="55321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103120"/>
            <a:ext cx="329184" cy="329184"/>
          </a:xfrm>
          <a:prstGeom prst="roundRect">
            <a:avLst/>
          </a:prstGeom>
          <a:solidFill>
            <a:srgbClr val="F8ECE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80844"/>
            <a:ext cx="146304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B25B34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6464" y="2057400"/>
            <a:ext cx="4544568" cy="493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F242B"/>
                </a:solidFill>
                <a:latin typeface="Aptos"/>
              </a:rPr>
              <a:t>People did not discover iron in one single moment; they learned to work with it over a long period.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862072"/>
            <a:ext cx="55321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3063240"/>
            <a:ext cx="329184" cy="329184"/>
          </a:xfrm>
          <a:prstGeom prst="roundRect">
            <a:avLst/>
          </a:prstGeom>
          <a:solidFill>
            <a:srgbClr val="F8ECE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140964"/>
            <a:ext cx="146304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B25B34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017520"/>
            <a:ext cx="4544568" cy="493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F242B"/>
                </a:solidFill>
                <a:latin typeface="Aptos"/>
              </a:rPr>
              <a:t>Early iron objects were rare, and some of them were made from meteorite iron.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22191"/>
            <a:ext cx="55321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4023359"/>
            <a:ext cx="329184" cy="329184"/>
          </a:xfrm>
          <a:prstGeom prst="roundRect">
            <a:avLst/>
          </a:prstGeom>
          <a:solidFill>
            <a:srgbClr val="F8ECE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101083"/>
            <a:ext cx="146304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B25B34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6464" y="3977639"/>
            <a:ext cx="4544568" cy="493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F242B"/>
                </a:solidFill>
                <a:latin typeface="Aptos"/>
              </a:rPr>
              <a:t>When ancient craftsmen learned to heat iron ore, tools and weapons became stronger than many bronze ones.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4782312"/>
            <a:ext cx="55321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4983480"/>
            <a:ext cx="329184" cy="329184"/>
          </a:xfrm>
          <a:prstGeom prst="roundRect">
            <a:avLst/>
          </a:prstGeom>
          <a:solidFill>
            <a:srgbClr val="F8ECE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061204"/>
            <a:ext cx="146304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B25B34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26464" y="4937760"/>
            <a:ext cx="4544568" cy="493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F242B"/>
                </a:solidFill>
                <a:latin typeface="Aptos"/>
              </a:rPr>
              <a:t>This change helped start the Iron Age, which influenced farming, war, and daily life.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97980" y="1019556"/>
            <a:ext cx="4736592" cy="2359152"/>
          </a:xfrm>
          <a:prstGeom prst="round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lide3_a_1864x9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969264"/>
            <a:ext cx="4736592" cy="2359152"/>
          </a:xfrm>
          <a:prstGeom prst="rect">
            <a:avLst/>
          </a:prstGeom>
          <a:ln w="12700">
            <a:solidFill>
              <a:srgbClr val="E1E5EA"/>
            </a:solidFill>
          </a:ln>
        </p:spPr>
      </p:pic>
      <p:sp>
        <p:nvSpPr>
          <p:cNvPr id="24" name="Rounded Rectangle 23"/>
          <p:cNvSpPr/>
          <p:nvPr/>
        </p:nvSpPr>
        <p:spPr>
          <a:xfrm>
            <a:off x="6821424" y="2926080"/>
            <a:ext cx="4407407" cy="256032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31152" y="2990088"/>
            <a:ext cx="4187952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525C69"/>
                </a:solidFill>
                <a:latin typeface="Aptos"/>
              </a:rPr>
              <a:t>ancient iron work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97980" y="3726179"/>
            <a:ext cx="4736592" cy="2057400"/>
          </a:xfrm>
          <a:prstGeom prst="round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slide3_b_1864x81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3675887"/>
            <a:ext cx="4736592" cy="2057400"/>
          </a:xfrm>
          <a:prstGeom prst="rect">
            <a:avLst/>
          </a:prstGeom>
          <a:ln w="12700">
            <a:solidFill>
              <a:srgbClr val="E1E5EA"/>
            </a:solidFill>
          </a:ln>
        </p:spPr>
      </p:pic>
      <p:sp>
        <p:nvSpPr>
          <p:cNvPr id="28" name="Rounded Rectangle 27"/>
          <p:cNvSpPr/>
          <p:nvPr/>
        </p:nvSpPr>
        <p:spPr>
          <a:xfrm>
            <a:off x="6821424" y="5330951"/>
            <a:ext cx="4407407" cy="256032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31152" y="5394959"/>
            <a:ext cx="4187952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525C69"/>
                </a:solidFill>
                <a:latin typeface="Aptos"/>
              </a:rPr>
              <a:t>early tools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56832" y="5943600"/>
            <a:ext cx="2011680" cy="329184"/>
          </a:xfrm>
          <a:prstGeom prst="roundRect">
            <a:avLst/>
          </a:prstGeom>
          <a:solidFill>
            <a:srgbClr val="F8ECE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0" y="6035040"/>
            <a:ext cx="1600200" cy="82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B25B34"/>
                </a:solidFill>
                <a:latin typeface="Aptos"/>
              </a:rPr>
              <a:t>MINIMAL OVERVIEW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6419088"/>
            <a:ext cx="41148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A8491"/>
                </a:solidFill>
                <a:latin typeface="Aptos"/>
              </a:rPr>
              <a:t>Iron in Everyday Life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419088"/>
            <a:ext cx="8229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7A8491"/>
                </a:solidFill>
                <a:latin typeface="Aptos"/>
              </a:rPr>
              <a:t>Fe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2062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B25B34"/>
                </a:solidFill>
                <a:latin typeface="Apto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61872" y="420624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A8491"/>
                </a:solidFill>
                <a:latin typeface="Aptos"/>
              </a:rPr>
              <a:t>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86384"/>
            <a:ext cx="57150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42B"/>
                </a:solidFill>
                <a:latin typeface="Aptos Display"/>
              </a:rPr>
              <a:t>Mining and modern 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490472"/>
            <a:ext cx="914400" cy="50292"/>
          </a:xfrm>
          <a:prstGeom prst="rect">
            <a:avLst/>
          </a:prstGeom>
          <a:solidFill>
            <a:srgbClr val="B25B3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13232" y="1901952"/>
            <a:ext cx="55321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103120"/>
            <a:ext cx="329184" cy="329184"/>
          </a:xfrm>
          <a:prstGeom prst="roundRect">
            <a:avLst/>
          </a:prstGeom>
          <a:solidFill>
            <a:srgbClr val="F8ECE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80844"/>
            <a:ext cx="146304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B25B34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6464" y="2057400"/>
            <a:ext cx="4544568" cy="493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F242B"/>
                </a:solidFill>
                <a:latin typeface="Aptos"/>
              </a:rPr>
              <a:t>Today, most iron comes from iron ore, especially minerals such as hematite and magnetite.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862072"/>
            <a:ext cx="55321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3063240"/>
            <a:ext cx="329184" cy="329184"/>
          </a:xfrm>
          <a:prstGeom prst="roundRect">
            <a:avLst/>
          </a:prstGeom>
          <a:solidFill>
            <a:srgbClr val="F8ECE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140964"/>
            <a:ext cx="146304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B25B34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017520"/>
            <a:ext cx="4544568" cy="493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F242B"/>
                </a:solidFill>
                <a:latin typeface="Aptos"/>
              </a:rPr>
              <a:t>The ore is mined, crushed, and heated in large furnaces, where iron is separated from unwanted rock.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22191"/>
            <a:ext cx="55321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4023359"/>
            <a:ext cx="329184" cy="329184"/>
          </a:xfrm>
          <a:prstGeom prst="roundRect">
            <a:avLst/>
          </a:prstGeom>
          <a:solidFill>
            <a:srgbClr val="F8ECE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101083"/>
            <a:ext cx="146304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B25B34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6464" y="3977639"/>
            <a:ext cx="4544568" cy="493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F242B"/>
                </a:solidFill>
                <a:latin typeface="Aptos"/>
              </a:rPr>
              <a:t>Much of this iron is turned into steel, because steel is stronger and easier to use in construction.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4782312"/>
            <a:ext cx="55321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4983480"/>
            <a:ext cx="329184" cy="329184"/>
          </a:xfrm>
          <a:prstGeom prst="roundRect">
            <a:avLst/>
          </a:prstGeom>
          <a:solidFill>
            <a:srgbClr val="F8ECE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061204"/>
            <a:ext cx="146304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B25B34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26464" y="4937760"/>
            <a:ext cx="4544568" cy="493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F242B"/>
                </a:solidFill>
                <a:latin typeface="Aptos"/>
              </a:rPr>
              <a:t>Modern society depends on iron in buildings, bridges, cars, machines, and railways.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97980" y="1019556"/>
            <a:ext cx="4736592" cy="2359152"/>
          </a:xfrm>
          <a:prstGeom prst="round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lide4_a_1864x9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969264"/>
            <a:ext cx="4736592" cy="2359152"/>
          </a:xfrm>
          <a:prstGeom prst="rect">
            <a:avLst/>
          </a:prstGeom>
          <a:ln w="12700">
            <a:solidFill>
              <a:srgbClr val="E1E5EA"/>
            </a:solidFill>
          </a:ln>
        </p:spPr>
      </p:pic>
      <p:sp>
        <p:nvSpPr>
          <p:cNvPr id="24" name="Rounded Rectangle 23"/>
          <p:cNvSpPr/>
          <p:nvPr/>
        </p:nvSpPr>
        <p:spPr>
          <a:xfrm>
            <a:off x="6821424" y="2926080"/>
            <a:ext cx="4407407" cy="256032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31152" y="2990088"/>
            <a:ext cx="4187952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525C69"/>
                </a:solidFill>
                <a:latin typeface="Aptos"/>
              </a:rPr>
              <a:t>iron ore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97980" y="3726179"/>
            <a:ext cx="4736592" cy="2057400"/>
          </a:xfrm>
          <a:prstGeom prst="round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slide4_b_1864x81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3675887"/>
            <a:ext cx="4736592" cy="2057400"/>
          </a:xfrm>
          <a:prstGeom prst="rect">
            <a:avLst/>
          </a:prstGeom>
          <a:ln w="12700">
            <a:solidFill>
              <a:srgbClr val="E1E5EA"/>
            </a:solidFill>
          </a:ln>
        </p:spPr>
      </p:pic>
      <p:sp>
        <p:nvSpPr>
          <p:cNvPr id="28" name="Rounded Rectangle 27"/>
          <p:cNvSpPr/>
          <p:nvPr/>
        </p:nvSpPr>
        <p:spPr>
          <a:xfrm>
            <a:off x="6821424" y="5330951"/>
            <a:ext cx="4407407" cy="256032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31152" y="5394959"/>
            <a:ext cx="4187952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525C69"/>
                </a:solidFill>
                <a:latin typeface="Aptos"/>
              </a:rPr>
              <a:t>modern steel production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56832" y="5943600"/>
            <a:ext cx="2011680" cy="329184"/>
          </a:xfrm>
          <a:prstGeom prst="roundRect">
            <a:avLst/>
          </a:prstGeom>
          <a:solidFill>
            <a:srgbClr val="F8ECE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0" y="6035040"/>
            <a:ext cx="1600200" cy="82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B25B34"/>
                </a:solidFill>
                <a:latin typeface="Aptos"/>
              </a:rPr>
              <a:t>MINIMAL OVERVIEW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6419088"/>
            <a:ext cx="41148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A8491"/>
                </a:solidFill>
                <a:latin typeface="Aptos"/>
              </a:rPr>
              <a:t>Iron in Everyday Life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419088"/>
            <a:ext cx="8229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7A8491"/>
                </a:solidFill>
                <a:latin typeface="Aptos"/>
              </a:rPr>
              <a:t>Fe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2062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B25B34"/>
                </a:solidFill>
                <a:latin typeface="Aptos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61872" y="420624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A8491"/>
                </a:solidFill>
                <a:latin typeface="Aptos"/>
              </a:rPr>
              <a:t>FUTURE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86384"/>
            <a:ext cx="57150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42B"/>
                </a:solidFill>
                <a:latin typeface="Aptos Display"/>
              </a:rPr>
              <a:t>Perspectives and alternatives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490472"/>
            <a:ext cx="914400" cy="50292"/>
          </a:xfrm>
          <a:prstGeom prst="rect">
            <a:avLst/>
          </a:prstGeom>
          <a:solidFill>
            <a:srgbClr val="B25B3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13232" y="1901952"/>
            <a:ext cx="55321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103120"/>
            <a:ext cx="329184" cy="329184"/>
          </a:xfrm>
          <a:prstGeom prst="roundRect">
            <a:avLst/>
          </a:prstGeom>
          <a:solidFill>
            <a:srgbClr val="F8ECE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80844"/>
            <a:ext cx="146304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B25B34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6464" y="2057400"/>
            <a:ext cx="4544568" cy="493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F242B"/>
                </a:solidFill>
                <a:latin typeface="Aptos"/>
              </a:rPr>
              <a:t>In the future, iron will probably remain important, but the way we produce it may change.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862072"/>
            <a:ext cx="55321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3063240"/>
            <a:ext cx="329184" cy="329184"/>
          </a:xfrm>
          <a:prstGeom prst="roundRect">
            <a:avLst/>
          </a:prstGeom>
          <a:solidFill>
            <a:srgbClr val="F8ECE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140964"/>
            <a:ext cx="146304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B25B34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017520"/>
            <a:ext cx="4544568" cy="493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F242B"/>
                </a:solidFill>
                <a:latin typeface="Aptos"/>
              </a:rPr>
              <a:t>Factories are trying to make green steel by using cleaner energy and less coal.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22191"/>
            <a:ext cx="55321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4023359"/>
            <a:ext cx="329184" cy="329184"/>
          </a:xfrm>
          <a:prstGeom prst="roundRect">
            <a:avLst/>
          </a:prstGeom>
          <a:solidFill>
            <a:srgbClr val="F8ECE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101083"/>
            <a:ext cx="146304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B25B34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6464" y="3977639"/>
            <a:ext cx="4544568" cy="493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F242B"/>
                </a:solidFill>
                <a:latin typeface="Aptos"/>
              </a:rPr>
              <a:t>Aluminium, carbon fiber, and new composites can replace iron when low weight is more important than low cost.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4782312"/>
            <a:ext cx="55321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4983480"/>
            <a:ext cx="329184" cy="329184"/>
          </a:xfrm>
          <a:prstGeom prst="roundRect">
            <a:avLst/>
          </a:prstGeom>
          <a:solidFill>
            <a:srgbClr val="F8ECE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061204"/>
            <a:ext cx="146304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B25B34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26464" y="4937760"/>
            <a:ext cx="4544568" cy="493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F242B"/>
                </a:solidFill>
                <a:latin typeface="Aptos"/>
              </a:rPr>
              <a:t>Even so, iron is cheap, strong, and recyclable, so it is not likely to disappear.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97980" y="1019556"/>
            <a:ext cx="4736592" cy="2359152"/>
          </a:xfrm>
          <a:prstGeom prst="round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lide5_a_1864x9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969264"/>
            <a:ext cx="4736592" cy="2359152"/>
          </a:xfrm>
          <a:prstGeom prst="rect">
            <a:avLst/>
          </a:prstGeom>
          <a:ln w="12700">
            <a:solidFill>
              <a:srgbClr val="E1E5EA"/>
            </a:solidFill>
          </a:ln>
        </p:spPr>
      </p:pic>
      <p:sp>
        <p:nvSpPr>
          <p:cNvPr id="24" name="Rounded Rectangle 23"/>
          <p:cNvSpPr/>
          <p:nvPr/>
        </p:nvSpPr>
        <p:spPr>
          <a:xfrm>
            <a:off x="6821424" y="2926080"/>
            <a:ext cx="4407407" cy="256032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31152" y="2990088"/>
            <a:ext cx="4187952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525C69"/>
                </a:solidFill>
                <a:latin typeface="Aptos"/>
              </a:rPr>
              <a:t>future materials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97980" y="3726179"/>
            <a:ext cx="4736592" cy="2057400"/>
          </a:xfrm>
          <a:prstGeom prst="round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slide5_b_1864x81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3675887"/>
            <a:ext cx="4736592" cy="2057400"/>
          </a:xfrm>
          <a:prstGeom prst="rect">
            <a:avLst/>
          </a:prstGeom>
          <a:ln w="12700">
            <a:solidFill>
              <a:srgbClr val="E1E5EA"/>
            </a:solidFill>
          </a:ln>
        </p:spPr>
      </p:pic>
      <p:sp>
        <p:nvSpPr>
          <p:cNvPr id="28" name="Rounded Rectangle 27"/>
          <p:cNvSpPr/>
          <p:nvPr/>
        </p:nvSpPr>
        <p:spPr>
          <a:xfrm>
            <a:off x="6821424" y="5330951"/>
            <a:ext cx="4407407" cy="256032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31152" y="5394959"/>
            <a:ext cx="4187952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525C69"/>
                </a:solidFill>
                <a:latin typeface="Aptos"/>
              </a:rPr>
              <a:t>recycling iron and steel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56832" y="5943600"/>
            <a:ext cx="2011680" cy="329184"/>
          </a:xfrm>
          <a:prstGeom prst="roundRect">
            <a:avLst/>
          </a:prstGeom>
          <a:solidFill>
            <a:srgbClr val="E8F4E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0" y="6035040"/>
            <a:ext cx="1600200" cy="82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4A8E68"/>
                </a:solidFill>
                <a:latin typeface="Aptos"/>
              </a:rPr>
              <a:t>MINIMAL OVERVIEW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6419088"/>
            <a:ext cx="41148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A8491"/>
                </a:solidFill>
                <a:latin typeface="Aptos"/>
              </a:rPr>
              <a:t>Iron in Everyday Life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419088"/>
            <a:ext cx="8229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7A8491"/>
                </a:solidFill>
                <a:latin typeface="Aptos"/>
              </a:rPr>
              <a:t>Fe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2062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B25B34"/>
                </a:solidFill>
                <a:latin typeface="Aptos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61872" y="420624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A8491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86384"/>
            <a:ext cx="57150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42B"/>
                </a:solidFill>
                <a:latin typeface="Aptos Display"/>
              </a:rPr>
              <a:t>Why iron still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490472"/>
            <a:ext cx="914400" cy="50292"/>
          </a:xfrm>
          <a:prstGeom prst="rect">
            <a:avLst/>
          </a:prstGeom>
          <a:solidFill>
            <a:srgbClr val="B25B3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13232" y="1901952"/>
            <a:ext cx="553212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103120"/>
            <a:ext cx="329184" cy="329184"/>
          </a:xfrm>
          <a:prstGeom prst="roundRect">
            <a:avLst/>
          </a:prstGeom>
          <a:solidFill>
            <a:srgbClr val="F8ECE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80844"/>
            <a:ext cx="146304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B25B34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6464" y="2057400"/>
            <a:ext cx="45445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F242B"/>
                </a:solidFill>
                <a:latin typeface="Aptos"/>
              </a:rPr>
              <a:t>Iron is not the newest or the rarest element, yet it is one of the most useful.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054096"/>
            <a:ext cx="553212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3255264"/>
            <a:ext cx="329184" cy="329184"/>
          </a:xfrm>
          <a:prstGeom prst="roundRect">
            <a:avLst/>
          </a:prstGeom>
          <a:solidFill>
            <a:srgbClr val="F8ECE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332988"/>
            <a:ext cx="146304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B25B34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209544"/>
            <a:ext cx="45445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F242B"/>
                </a:solidFill>
                <a:latin typeface="Aptos"/>
              </a:rPr>
              <a:t>Its story connects chemistry, history, industry, and the future of technology.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06240"/>
            <a:ext cx="553212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4407407"/>
            <a:ext cx="329184" cy="329184"/>
          </a:xfrm>
          <a:prstGeom prst="roundRect">
            <a:avLst/>
          </a:prstGeom>
          <a:solidFill>
            <a:srgbClr val="F8ECE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485131"/>
            <a:ext cx="146304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B25B34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6464" y="4361688"/>
            <a:ext cx="45445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F242B"/>
                </a:solidFill>
                <a:latin typeface="Aptos"/>
              </a:rPr>
              <a:t>By studying iron, we can see how one element can change the way people build, travel, and live.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97980" y="1019556"/>
            <a:ext cx="4736592" cy="2359152"/>
          </a:xfrm>
          <a:prstGeom prst="round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lide6_a_1864x9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969264"/>
            <a:ext cx="4736592" cy="2359152"/>
          </a:xfrm>
          <a:prstGeom prst="rect">
            <a:avLst/>
          </a:prstGeom>
          <a:ln w="12700">
            <a:solidFill>
              <a:srgbClr val="E1E5EA"/>
            </a:solidFill>
          </a:ln>
        </p:spPr>
      </p:pic>
      <p:sp>
        <p:nvSpPr>
          <p:cNvPr id="20" name="Rounded Rectangle 19"/>
          <p:cNvSpPr/>
          <p:nvPr/>
        </p:nvSpPr>
        <p:spPr>
          <a:xfrm>
            <a:off x="6821424" y="2926080"/>
            <a:ext cx="4407407" cy="256032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31152" y="2990088"/>
            <a:ext cx="4187952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525C69"/>
                </a:solidFill>
                <a:latin typeface="Aptos"/>
              </a:rPr>
              <a:t>steel structure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97980" y="3726179"/>
            <a:ext cx="4736592" cy="2057400"/>
          </a:xfrm>
          <a:prstGeom prst="round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lide6_b_1864x81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3675887"/>
            <a:ext cx="4736592" cy="2057400"/>
          </a:xfrm>
          <a:prstGeom prst="rect">
            <a:avLst/>
          </a:prstGeom>
          <a:ln w="12700">
            <a:solidFill>
              <a:srgbClr val="E1E5EA"/>
            </a:solidFill>
          </a:ln>
        </p:spPr>
      </p:pic>
      <p:sp>
        <p:nvSpPr>
          <p:cNvPr id="24" name="Rounded Rectangle 23"/>
          <p:cNvSpPr/>
          <p:nvPr/>
        </p:nvSpPr>
        <p:spPr>
          <a:xfrm>
            <a:off x="6821424" y="5330951"/>
            <a:ext cx="4407407" cy="256032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31152" y="5394959"/>
            <a:ext cx="4187952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525C69"/>
                </a:solidFill>
                <a:latin typeface="Aptos"/>
              </a:rPr>
              <a:t>future materials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56832" y="5943600"/>
            <a:ext cx="2011680" cy="329184"/>
          </a:xfrm>
          <a:prstGeom prst="roundRect">
            <a:avLst/>
          </a:prstGeom>
          <a:solidFill>
            <a:srgbClr val="F8ECE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6035040"/>
            <a:ext cx="1600200" cy="82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B25B34"/>
                </a:solidFill>
                <a:latin typeface="Aptos"/>
              </a:rPr>
              <a:t>MINIMAL OVERVIEW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6419088"/>
            <a:ext cx="41148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A8491"/>
                </a:solidFill>
                <a:latin typeface="Aptos"/>
              </a:rPr>
              <a:t>Iron in Everyday Life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6419088"/>
            <a:ext cx="8229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7A8491"/>
                </a:solidFill>
                <a:latin typeface="Aptos"/>
              </a:rPr>
              <a:t>Fe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