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54680" cy="6858000"/>
          </a:xfrm>
          <a:prstGeom prst="rect">
            <a:avLst/>
          </a:prstGeom>
          <a:solidFill>
            <a:srgbClr val="E8E4DD"/>
          </a:solidFill>
          <a:ln>
            <a:solidFill>
              <a:srgbClr val="E8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54680" y="0"/>
            <a:ext cx="9037015" cy="164592"/>
          </a:xfrm>
          <a:prstGeom prst="rect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972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9A5232"/>
                </a:solidFill>
                <a:latin typeface="Aptos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011680" cy="1828800"/>
          </a:xfrm>
          <a:prstGeom prst="roundRect">
            <a:avLst/>
          </a:prstGeom>
          <a:solidFill>
            <a:srgbClr val="606971"/>
          </a:solidFill>
          <a:ln>
            <a:solidFill>
              <a:srgbClr val="2B3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39112"/>
            <a:ext cx="1554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EBEBEB"/>
                </a:solidFill>
                <a:latin typeface="Aptos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77439"/>
            <a:ext cx="169164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Aptos"/>
              </a:rPr>
              <a:t>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136391"/>
            <a:ext cx="16916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Iron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21488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687078"/>
                </a:solidFill>
                <a:latin typeface="Aptos"/>
              </a:rPr>
              <a:t>Chemical element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02920"/>
            <a:ext cx="52120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>
                <a:solidFill>
                  <a:srgbClr val="2B3035"/>
                </a:solidFill>
                <a:latin typeface="Aptos"/>
              </a:rPr>
              <a:t>What is iron?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987552"/>
            <a:ext cx="52120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687078"/>
                </a:solidFill>
                <a:latin typeface="Aptos"/>
              </a:rPr>
              <a:t>Что такое железо?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600200"/>
            <a:ext cx="3977639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1600200"/>
            <a:ext cx="3794760" cy="4434840"/>
          </a:xfrm>
          <a:prstGeom prst="roundRect">
            <a:avLst/>
          </a:prstGeom>
          <a:solidFill>
            <a:srgbClr val="F2F0EC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1810512"/>
            <a:ext cx="3383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English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810512"/>
            <a:ext cx="31089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Перевод на русском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240280"/>
            <a:ext cx="342900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Iron is a chemical element.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Its symbol is Fe.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Iron is a metal. It is strong, hard, and useful.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People have used iron for many centuries.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240280"/>
            <a:ext cx="315468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Железо — это химический элемент.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Его символ — Fe.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Железо — это металл. Оно прочное, твёрдое и полезное.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Люди используют железо уже много веков.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6263640"/>
            <a:ext cx="7772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687078"/>
                </a:solidFill>
                <a:latin typeface="Aptos"/>
              </a:rPr>
              <a:t>Iron in Everyday Life — simple presentation for English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54680" cy="6858000"/>
          </a:xfrm>
          <a:prstGeom prst="rect">
            <a:avLst/>
          </a:prstGeom>
          <a:solidFill>
            <a:srgbClr val="E8E4DD"/>
          </a:solidFill>
          <a:ln>
            <a:solidFill>
              <a:srgbClr val="E8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54680" y="0"/>
            <a:ext cx="9037015" cy="164592"/>
          </a:xfrm>
          <a:prstGeom prst="rect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972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9A5232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79"/>
            <a:ext cx="17373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320040" cy="914400"/>
          </a:xfrm>
          <a:prstGeom prst="rect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65960" y="2194560"/>
            <a:ext cx="320040" cy="914400"/>
          </a:xfrm>
          <a:prstGeom prst="rect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1097280" y="1984248"/>
            <a:ext cx="1188720" cy="1097280"/>
          </a:xfrm>
          <a:prstGeom prst="arc">
            <a:avLst/>
          </a:prstGeom>
          <a:ln w="203200"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606971"/>
                </a:solidFill>
                <a:latin typeface="Aptos"/>
              </a:rPr>
              <a:t>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77639"/>
            <a:ext cx="21488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687078"/>
                </a:solidFill>
                <a:latin typeface="Aptos"/>
              </a:rPr>
              <a:t>Strong, heavy, magnetic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"/>
            <a:ext cx="52120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>
                <a:solidFill>
                  <a:srgbClr val="2B3035"/>
                </a:solidFill>
                <a:latin typeface="Aptos"/>
              </a:rPr>
              <a:t>Properties of iron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987552"/>
            <a:ext cx="52120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687078"/>
                </a:solidFill>
                <a:latin typeface="Aptos"/>
              </a:rPr>
              <a:t>Свойства железа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600200"/>
            <a:ext cx="3977639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18120" y="1600200"/>
            <a:ext cx="3794760" cy="4434840"/>
          </a:xfrm>
          <a:prstGeom prst="roundRect">
            <a:avLst/>
          </a:prstGeom>
          <a:solidFill>
            <a:srgbClr val="F2F0EC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1810512"/>
            <a:ext cx="3383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English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1810512"/>
            <a:ext cx="31089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Перевод на русском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240280"/>
            <a:ext cx="342900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Iron has a grey metallic color.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It is strong and heavy.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Iron can be attracted by a magnet.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But iron has one problem: it can 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240280"/>
            <a:ext cx="315468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Железо имеет серый металлический цвет.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Оно прочное и тяжёлое.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Железо может притягиваться магнитом.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Но у железа есть одна проблема: оно может ржаветь.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6263640"/>
            <a:ext cx="7772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687078"/>
                </a:solidFill>
                <a:latin typeface="Aptos"/>
              </a:rPr>
              <a:t>Iron in Everyday Life — simple presentation for English class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54680" cy="6858000"/>
          </a:xfrm>
          <a:prstGeom prst="rect">
            <a:avLst/>
          </a:prstGeom>
          <a:solidFill>
            <a:srgbClr val="E8E4DD"/>
          </a:solidFill>
          <a:ln>
            <a:solidFill>
              <a:srgbClr val="E8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54680" y="0"/>
            <a:ext cx="9037015" cy="164592"/>
          </a:xfrm>
          <a:prstGeom prst="rect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972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9A5232"/>
                </a:solidFill>
                <a:latin typeface="Aptos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0116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1554480" cy="310896"/>
          </a:xfrm>
          <a:prstGeom prst="roundRect">
            <a:avLst/>
          </a:prstGeom>
          <a:solidFill>
            <a:srgbClr val="E5D2C6"/>
          </a:solidFill>
          <a:ln>
            <a:solidFill>
              <a:srgbClr val="E5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21408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2B3035"/>
                </a:solidFill>
                <a:latin typeface="Aptos"/>
              </a:rPr>
              <a:t>bridge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78608"/>
            <a:ext cx="1554480" cy="310896"/>
          </a:xfrm>
          <a:prstGeom prst="roundRect">
            <a:avLst/>
          </a:prstGeom>
          <a:solidFill>
            <a:srgbClr val="E8E8E8"/>
          </a:solidFill>
          <a:ln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96896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2B3035"/>
                </a:solidFill>
                <a:latin typeface="Aptos"/>
              </a:rPr>
              <a:t>car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054096"/>
            <a:ext cx="1554480" cy="310896"/>
          </a:xfrm>
          <a:prstGeom prst="roundRect">
            <a:avLst/>
          </a:prstGeom>
          <a:solidFill>
            <a:srgbClr val="E5D2C6"/>
          </a:solidFill>
          <a:ln>
            <a:solidFill>
              <a:srgbClr val="E5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72384"/>
            <a:ext cx="1371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2B3035"/>
                </a:solidFill>
                <a:latin typeface="Aptos"/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77639"/>
            <a:ext cx="21488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687078"/>
                </a:solidFill>
                <a:latin typeface="Aptos"/>
              </a:rPr>
              <a:t>Buildings, transport, machines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502920"/>
            <a:ext cx="52120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>
                <a:solidFill>
                  <a:srgbClr val="2B3035"/>
                </a:solidFill>
                <a:latin typeface="Aptos"/>
              </a:rPr>
              <a:t>Iron in everyday life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987552"/>
            <a:ext cx="52120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687078"/>
                </a:solidFill>
                <a:latin typeface="Aptos"/>
              </a:rPr>
              <a:t>Железо в повседневной жизни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600200"/>
            <a:ext cx="3977639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18120" y="1600200"/>
            <a:ext cx="3794760" cy="4434840"/>
          </a:xfrm>
          <a:prstGeom prst="roundRect">
            <a:avLst/>
          </a:prstGeom>
          <a:solidFill>
            <a:srgbClr val="F2F0EC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1810512"/>
            <a:ext cx="3383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English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1810512"/>
            <a:ext cx="31089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Перевод на русском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240280"/>
            <a:ext cx="342900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Iron is used in many things around us.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It is used in buildings, bridges, tools, and machines.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Cars, buses, and trains also have iron parts.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Very often, iron is used to make steel.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240280"/>
            <a:ext cx="315468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Железо используется во многих вещах вокруг нас.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Его используют в зданиях, мостах, инструментах и машинах.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В машинах, автобусах и поездах тоже есть железные детали.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Очень часто железо используют для создания стали.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6263640"/>
            <a:ext cx="7772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687078"/>
                </a:solidFill>
                <a:latin typeface="Aptos"/>
              </a:rPr>
              <a:t>Iron in Everyday Life — simple presentation for English class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54680" cy="6858000"/>
          </a:xfrm>
          <a:prstGeom prst="rect">
            <a:avLst/>
          </a:prstGeom>
          <a:solidFill>
            <a:srgbClr val="E8E4DD"/>
          </a:solidFill>
          <a:ln>
            <a:solidFill>
              <a:srgbClr val="E8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54680" y="0"/>
            <a:ext cx="9037015" cy="164592"/>
          </a:xfrm>
          <a:prstGeom prst="rect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972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9A5232"/>
                </a:solidFill>
                <a:latin typeface="Aptos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011680" cy="1828800"/>
          </a:xfrm>
          <a:prstGeom prst="roundRect">
            <a:avLst/>
          </a:prstGeom>
          <a:solidFill>
            <a:srgbClr val="606971"/>
          </a:solidFill>
          <a:ln>
            <a:solidFill>
              <a:srgbClr val="2B3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167127"/>
            <a:ext cx="320040" cy="240029"/>
          </a:xfrm>
          <a:prstGeom prst="ellipse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258568"/>
            <a:ext cx="457200" cy="342900"/>
          </a:xfrm>
          <a:prstGeom prst="ellipse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2834639"/>
            <a:ext cx="365760" cy="274320"/>
          </a:xfrm>
          <a:prstGeom prst="ellipse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03120" y="3017520"/>
            <a:ext cx="274320" cy="205739"/>
          </a:xfrm>
          <a:prstGeom prst="ellipse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291839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77639"/>
            <a:ext cx="21488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687078"/>
                </a:solidFill>
                <a:latin typeface="Aptos"/>
              </a:rPr>
              <a:t>Water + air can damage iron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02920"/>
            <a:ext cx="52120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>
                <a:solidFill>
                  <a:srgbClr val="2B3035"/>
                </a:solidFill>
                <a:latin typeface="Aptos"/>
              </a:rPr>
              <a:t>Iron and 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987552"/>
            <a:ext cx="52120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687078"/>
                </a:solidFill>
                <a:latin typeface="Aptos"/>
              </a:rPr>
              <a:t>Железо и ржавчина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600200"/>
            <a:ext cx="3977639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18120" y="1600200"/>
            <a:ext cx="3794760" cy="4434840"/>
          </a:xfrm>
          <a:prstGeom prst="roundRect">
            <a:avLst/>
          </a:prstGeom>
          <a:solidFill>
            <a:srgbClr val="F2F0EC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1810512"/>
            <a:ext cx="3383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English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810512"/>
            <a:ext cx="31089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Перевод на русском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240280"/>
            <a:ext cx="342900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When iron touches water and air, it can rust.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Rust has a red-brown color.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Rust makes iron weaker.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To protect iron, people paint it or cover it with a special layer.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240280"/>
            <a:ext cx="315468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Когда железо соприкасается с водой и воздухом, оно может ржаветь.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Ржавчина имеет красно-коричневый цвет.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Ржавчина делает железо слабее.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Чтобы защитить железо, люди красят его или покрывают специальным слоем.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6263640"/>
            <a:ext cx="7772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687078"/>
                </a:solidFill>
                <a:latin typeface="Aptos"/>
              </a:rPr>
              <a:t>Iron in Everyday Life — simple presentation for English class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54680" cy="6858000"/>
          </a:xfrm>
          <a:prstGeom prst="rect">
            <a:avLst/>
          </a:prstGeom>
          <a:solidFill>
            <a:srgbClr val="E8E4DD"/>
          </a:solidFill>
          <a:ln>
            <a:solidFill>
              <a:srgbClr val="E8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54680" y="0"/>
            <a:ext cx="9037015" cy="164592"/>
          </a:xfrm>
          <a:prstGeom prst="rect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972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9A5232"/>
                </a:solidFill>
                <a:latin typeface="Aptos"/>
              </a:rP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0116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2377439"/>
            <a:ext cx="347472" cy="914400"/>
          </a:xfrm>
          <a:prstGeom prst="rect">
            <a:avLst/>
          </a:prstGeom>
          <a:solidFill>
            <a:srgbClr val="606971"/>
          </a:solidFill>
          <a:ln>
            <a:solidFill>
              <a:srgbClr val="6069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2057399"/>
            <a:ext cx="347472" cy="1234440"/>
          </a:xfrm>
          <a:prstGeom prst="rect">
            <a:avLst/>
          </a:prstGeom>
          <a:solidFill>
            <a:srgbClr val="9A5232"/>
          </a:solidFill>
          <a:ln>
            <a:solidFill>
              <a:srgbClr val="9A5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2514599"/>
            <a:ext cx="347472" cy="777240"/>
          </a:xfrm>
          <a:prstGeom prst="rect">
            <a:avLst/>
          </a:prstGeom>
          <a:solidFill>
            <a:srgbClr val="606971"/>
          </a:solidFill>
          <a:ln>
            <a:solidFill>
              <a:srgbClr val="6069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410711"/>
            <a:ext cx="1554480" cy="146304"/>
          </a:xfrm>
          <a:prstGeom prst="rect">
            <a:avLst/>
          </a:prstGeom>
          <a:solidFill>
            <a:srgbClr val="2B3035"/>
          </a:solidFill>
          <a:ln>
            <a:solidFill>
              <a:srgbClr val="2B3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977639"/>
            <a:ext cx="21488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687078"/>
                </a:solidFill>
                <a:latin typeface="Aptos"/>
              </a:rPr>
              <a:t>One of the most useful metals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"/>
            <a:ext cx="52120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>
                <a:solidFill>
                  <a:srgbClr val="2B3035"/>
                </a:solidFill>
                <a:latin typeface="Aptos"/>
              </a:rPr>
              <a:t>Why is iron important?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987552"/>
            <a:ext cx="52120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687078"/>
                </a:solidFill>
                <a:latin typeface="Aptos"/>
              </a:rPr>
              <a:t>Почему железо важно?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600200"/>
            <a:ext cx="3977639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18120" y="1600200"/>
            <a:ext cx="3794760" cy="4434840"/>
          </a:xfrm>
          <a:prstGeom prst="roundRect">
            <a:avLst/>
          </a:prstGeom>
          <a:solidFill>
            <a:srgbClr val="F2F0EC"/>
          </a:solidFill>
          <a:ln>
            <a:solidFill>
              <a:srgbClr val="D3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1810512"/>
            <a:ext cx="3383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English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1810512"/>
            <a:ext cx="31089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9A5232"/>
                </a:solidFill>
                <a:latin typeface="Aptos"/>
              </a:rPr>
              <a:t>Перевод на русском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240280"/>
            <a:ext cx="342900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Iron is one of the most important metals in the world.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It helps people build houses, roads, bridges, and transport.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Iron is strong, practical, and useful in daily life.</a:t>
            </a:r>
          </a:p>
          <a:p>
            <a:pPr>
              <a:spcAft>
                <a:spcPts val="1000"/>
              </a:spcAft>
              <a:defRPr sz="2000">
                <a:solidFill>
                  <a:srgbClr val="2B3035"/>
                </a:solidFill>
                <a:latin typeface="Aptos"/>
              </a:defRPr>
            </a:pPr>
            <a:r>
              <a:t>That is why iron is an important chemical element for people.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240280"/>
            <a:ext cx="3154680" cy="3337560"/>
          </a:xfrm>
          <a:prstGeom prst="rect">
            <a:avLst/>
          </a:prstGeom>
          <a:noFill/>
        </p:spPr>
        <p:txBody>
          <a:bodyPr wrap="square" lIns="109728" rIns="109728" tIns="54864" bIns="54864">
            <a:norm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Железо — один из самых важных металлов в мире.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Оно помогает людям строить дома, дороги, мосты и транспорт.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Железо прочное, практичное и полезное в повседневной жизни.</a:t>
            </a:r>
          </a:p>
          <a:p>
            <a:pPr>
              <a:spcAft>
                <a:spcPts val="1000"/>
              </a:spcAft>
              <a:defRPr sz="1700">
                <a:solidFill>
                  <a:srgbClr val="2B3035"/>
                </a:solidFill>
                <a:latin typeface="Aptos"/>
              </a:defRPr>
            </a:pPr>
            <a:r>
              <a:t>Именно поэтому железо — важный химический элемент для людей.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6263640"/>
            <a:ext cx="7772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687078"/>
                </a:solidFill>
                <a:latin typeface="Aptos"/>
              </a:rPr>
              <a:t>Iron in Everyday Life — simple presentation for English class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