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_full_2200x1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713232"/>
            <a:ext cx="5394960" cy="5349240"/>
          </a:xfrm>
          <a:prstGeom prst="roundRect">
            <a:avLst/>
          </a:prstGeom>
          <a:solidFill>
            <a:srgbClr val="070A0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960120"/>
            <a:ext cx="777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DD8B57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1444752"/>
            <a:ext cx="4617720" cy="13533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 Display"/>
              </a:rPr>
              <a:t>Iron: A Metal That Shaped Our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07792"/>
            <a:ext cx="425196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DD8B57"/>
                </a:solidFill>
                <a:latin typeface="Aptos"/>
              </a:rPr>
              <a:t>WHAT IS IRON?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29000"/>
            <a:ext cx="452628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Iron is a strong metal and a chemical element with the symbol 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9663"/>
            <a:ext cx="452628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E2E6EB"/>
                </a:solidFill>
                <a:latin typeface="Aptos"/>
              </a:rPr>
              <a:t>It is used in buildings, transport, machines, and many objects around 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5074920"/>
            <a:ext cx="2011680" cy="438912"/>
          </a:xfrm>
          <a:prstGeom prst="roundRect">
            <a:avLst/>
          </a:prstGeom>
          <a:solidFill>
            <a:srgbClr val="B55C30"/>
          </a:solidFill>
          <a:ln>
            <a:solidFill>
              <a:srgbClr val="B55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7592" y="5184648"/>
            <a:ext cx="160020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CHEMICAL ELEMENT: 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1C2026"/>
          </a:solidFill>
          <a:ln>
            <a:solidFill>
              <a:srgbClr val="1C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71323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B55C30"/>
                </a:solidFill>
                <a:latin typeface="Apto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"/>
            <a:ext cx="2194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646D77"/>
                </a:solidFill>
                <a:latin typeface="Aptos"/>
              </a:rPr>
              <a:t>IRON AS AN ELEMENT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548640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100" b="1">
                <a:solidFill>
                  <a:srgbClr val="1F2328"/>
                </a:solidFill>
                <a:latin typeface="Aptos Display"/>
              </a:rPr>
              <a:t>A closer look at iron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143000" cy="73152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01952"/>
            <a:ext cx="4709160" cy="4279392"/>
          </a:xfrm>
          <a:prstGeom prst="roundRect">
            <a:avLst/>
          </a:prstGeom>
          <a:solidFill>
            <a:srgbClr val="F5F6F8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194560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35708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157984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Iron is a chemical element with the symbol Fe and the atomic number 26.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127248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68396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090672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Although it looks simple, it is one of the most common elements on Earth.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4059935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101084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4023360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In pure form, iron is a grey metal that can be magnetic and reactive.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4992623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033772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56048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Because it easily combines with oxygen, it can form rust when air and water are present.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16751" y="731519"/>
            <a:ext cx="5349240" cy="233172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lement_21_2457x10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658368"/>
            <a:ext cx="5349240" cy="2331720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6126479" y="2551175"/>
            <a:ext cx="5020055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2606039"/>
            <a:ext cx="480060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Element sample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16751" y="3328416"/>
            <a:ext cx="256032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rust_22_1176x11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255264"/>
            <a:ext cx="256032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6126479" y="5394960"/>
            <a:ext cx="223113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7" y="5449824"/>
            <a:ext cx="2011679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Rust and oxygen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51392" y="3328416"/>
            <a:ext cx="251460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re_23_1155x11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3255264"/>
            <a:ext cx="251460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8961119" y="5394960"/>
            <a:ext cx="218541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5449824"/>
            <a:ext cx="1965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Iron 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19088"/>
            <a:ext cx="40233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00" b="0">
                <a:solidFill>
                  <a:srgbClr val="646D77"/>
                </a:solidFill>
                <a:latin typeface="Aptos"/>
              </a:rPr>
              <a:t>Iron: from element to modern industry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69880" y="6382512"/>
            <a:ext cx="822960" cy="54864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1C2026"/>
          </a:solidFill>
          <a:ln>
            <a:solidFill>
              <a:srgbClr val="1C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71323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B55C30"/>
                </a:solidFill>
                <a:latin typeface="Apto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"/>
            <a:ext cx="2194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646D77"/>
                </a:solidFill>
                <a:latin typeface="Aptos"/>
              </a:rPr>
              <a:t>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548640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100" b="1">
                <a:solidFill>
                  <a:srgbClr val="1F2328"/>
                </a:solidFill>
                <a:latin typeface="Aptos Display"/>
              </a:rPr>
              <a:t>How people learned to use iron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143000" cy="73152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01952"/>
            <a:ext cx="4709160" cy="4279392"/>
          </a:xfrm>
          <a:prstGeom prst="roundRect">
            <a:avLst/>
          </a:prstGeom>
          <a:solidFill>
            <a:srgbClr val="F5F6F8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194560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35708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157984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People did not discover iron in one single moment; they learned to work with it over a long period.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127248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68396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090672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Early iron objects were rare, and some of them were made from meteorite iron.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4059935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101084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4023360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When ancient craftsmen learned to heat iron ore, tools and weapons became stronger than many bronze ones.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4992623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033772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56048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This change helped start the Iron Age, which influenced farming, war, and daily life.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16751" y="731519"/>
            <a:ext cx="5349240" cy="233172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ncient_blacksmith_31_2457x10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658368"/>
            <a:ext cx="5349240" cy="2331720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6126479" y="2551175"/>
            <a:ext cx="5020055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2606039"/>
            <a:ext cx="480060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Ancient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16751" y="3328416"/>
            <a:ext cx="256032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ncient_tools_32_1176x11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255264"/>
            <a:ext cx="256032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6126479" y="5394960"/>
            <a:ext cx="223113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7" y="5449824"/>
            <a:ext cx="2011679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Iron tools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51392" y="3328416"/>
            <a:ext cx="251460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lement_33_1155x11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3255264"/>
            <a:ext cx="251460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8961119" y="5394960"/>
            <a:ext cx="218541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5449824"/>
            <a:ext cx="1965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Element sample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19088"/>
            <a:ext cx="40233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00" b="0">
                <a:solidFill>
                  <a:srgbClr val="646D77"/>
                </a:solidFill>
                <a:latin typeface="Aptos"/>
              </a:rPr>
              <a:t>Iron: from element to modern industry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69880" y="6382512"/>
            <a:ext cx="822960" cy="54864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1C2026"/>
          </a:solidFill>
          <a:ln>
            <a:solidFill>
              <a:srgbClr val="1C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71323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B55C30"/>
                </a:solidFill>
                <a:latin typeface="Apto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"/>
            <a:ext cx="2194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646D77"/>
                </a:solidFill>
                <a:latin typeface="Aptos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548640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100" b="1">
                <a:solidFill>
                  <a:srgbClr val="1F2328"/>
                </a:solidFill>
                <a:latin typeface="Aptos Display"/>
              </a:rPr>
              <a:t>Mining and modern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143000" cy="73152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01952"/>
            <a:ext cx="4709160" cy="4279392"/>
          </a:xfrm>
          <a:prstGeom prst="roundRect">
            <a:avLst/>
          </a:prstGeom>
          <a:solidFill>
            <a:srgbClr val="F5F6F8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194560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35708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157984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Today, most iron comes from iron ore, especially minerals such as hematite and magnetite.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127248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68396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090672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The ore is mined, crushed, and heated in large furnaces, where iron is separated from unwanted rock.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4059935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101084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4023360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Much of this iron is turned into steel, because steel is stronger and easier to use in construction.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4992623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033772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56048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Modern society depends on iron in buildings, bridges, cars, machines, and railways.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16751" y="731519"/>
            <a:ext cx="5349240" cy="233172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ore_41_2457x10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658368"/>
            <a:ext cx="5349240" cy="2331720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6126479" y="2551175"/>
            <a:ext cx="5020055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2606039"/>
            <a:ext cx="480060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Iron 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16751" y="3328416"/>
            <a:ext cx="256032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actory_42_1176x11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255264"/>
            <a:ext cx="256032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6126479" y="5394960"/>
            <a:ext cx="223113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7" y="5449824"/>
            <a:ext cx="2011679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Steel factory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51392" y="3328416"/>
            <a:ext cx="251460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ridge_43_1155x11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3255264"/>
            <a:ext cx="251460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8961119" y="5394960"/>
            <a:ext cx="218541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5449824"/>
            <a:ext cx="1965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Steel in cities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19088"/>
            <a:ext cx="40233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00" b="0">
                <a:solidFill>
                  <a:srgbClr val="646D77"/>
                </a:solidFill>
                <a:latin typeface="Aptos"/>
              </a:rPr>
              <a:t>Iron: from element to modern industry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69880" y="6382512"/>
            <a:ext cx="822960" cy="54864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1C2026"/>
          </a:solidFill>
          <a:ln>
            <a:solidFill>
              <a:srgbClr val="1C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71323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B55C30"/>
                </a:solidFill>
                <a:latin typeface="Apto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"/>
            <a:ext cx="2194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646D77"/>
                </a:solidFill>
                <a:latin typeface="Aptos"/>
              </a:rPr>
              <a:t>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548640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100" b="1">
                <a:solidFill>
                  <a:srgbClr val="1F2328"/>
                </a:solidFill>
                <a:latin typeface="Aptos Display"/>
              </a:rPr>
              <a:t>Perspectives and alternatives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143000" cy="73152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01952"/>
            <a:ext cx="4709160" cy="4279392"/>
          </a:xfrm>
          <a:prstGeom prst="roundRect">
            <a:avLst/>
          </a:prstGeom>
          <a:solidFill>
            <a:srgbClr val="F5F6F8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194560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35708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157984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In the future, iron will probably remain important, but the way we produce it may change.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127248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68396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090672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Factories are trying to make green steel by using cleaner energy and less coal.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4059935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101084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4023360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Aluminium, carbon fiber, and new composites can replace iron when low weight is more important than low cost.</a:t>
            </a:r>
          </a:p>
        </p:txBody>
      </p:sp>
      <p:sp>
        <p:nvSpPr>
          <p:cNvPr id="17" name="Oval 16"/>
          <p:cNvSpPr/>
          <p:nvPr/>
        </p:nvSpPr>
        <p:spPr>
          <a:xfrm>
            <a:off x="932688" y="4992623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033772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56048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Even so, iron is cheap, strong, and recyclable, so it is not likely to disappear.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16751" y="731519"/>
            <a:ext cx="5349240" cy="233172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uture_51_2457x10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658368"/>
            <a:ext cx="5349240" cy="2331720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2" name="Rounded Rectangle 21"/>
          <p:cNvSpPr/>
          <p:nvPr/>
        </p:nvSpPr>
        <p:spPr>
          <a:xfrm>
            <a:off x="6126479" y="2551175"/>
            <a:ext cx="5020055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2606039"/>
            <a:ext cx="480060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Future materials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16751" y="3328416"/>
            <a:ext cx="256032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recycling_52_1176x11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255264"/>
            <a:ext cx="256032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6" name="Rounded Rectangle 25"/>
          <p:cNvSpPr/>
          <p:nvPr/>
        </p:nvSpPr>
        <p:spPr>
          <a:xfrm>
            <a:off x="6126479" y="5394960"/>
            <a:ext cx="223113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7" y="5449824"/>
            <a:ext cx="2011679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Recycling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51392" y="3328416"/>
            <a:ext cx="251460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ridge_43_1155x11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3255264"/>
            <a:ext cx="251460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8961119" y="5394960"/>
            <a:ext cx="218541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5449824"/>
            <a:ext cx="1965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Steel in cities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19088"/>
            <a:ext cx="40233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00" b="0">
                <a:solidFill>
                  <a:srgbClr val="646D77"/>
                </a:solidFill>
                <a:latin typeface="Aptos"/>
              </a:rPr>
              <a:t>Iron: from element to modern industry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69880" y="6382512"/>
            <a:ext cx="822960" cy="54864"/>
          </a:xfrm>
          <a:prstGeom prst="rect">
            <a:avLst/>
          </a:prstGeom>
          <a:solidFill>
            <a:srgbClr val="4D907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1C2026"/>
          </a:solidFill>
          <a:ln>
            <a:solidFill>
              <a:srgbClr val="1C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71323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B55C30"/>
                </a:solidFill>
                <a:latin typeface="Apto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"/>
            <a:ext cx="2194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646D77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548640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100" b="1">
                <a:solidFill>
                  <a:srgbClr val="1F2328"/>
                </a:solidFill>
                <a:latin typeface="Aptos Display"/>
              </a:rPr>
              <a:t>Why iron still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143000" cy="73152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01952"/>
            <a:ext cx="4709160" cy="4279392"/>
          </a:xfrm>
          <a:prstGeom prst="roundRect">
            <a:avLst/>
          </a:prstGeom>
          <a:solidFill>
            <a:srgbClr val="F5F6F8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194560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35708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157984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Iron is not the newest or the rarest element, yet it is one of the most useful.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10127"/>
            <a:ext cx="310896" cy="310896"/>
          </a:xfrm>
          <a:prstGeom prst="ellipse">
            <a:avLst/>
          </a:prstGeom>
          <a:solidFill>
            <a:srgbClr val="5B636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351275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Its story connects chemistry, history, industry, and the future of technology.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4425695"/>
            <a:ext cx="310896" cy="310896"/>
          </a:xfrm>
          <a:prstGeom prst="ellipse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466844"/>
            <a:ext cx="31089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4389120"/>
            <a:ext cx="36118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700" b="0">
                <a:solidFill>
                  <a:srgbClr val="1F2328"/>
                </a:solidFill>
                <a:latin typeface="Aptos"/>
              </a:rPr>
              <a:t>By studying iron, we can see how one element can change the way people build, travel, and live.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1" y="731519"/>
            <a:ext cx="5349240" cy="233172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actory_61_2457x10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658368"/>
            <a:ext cx="5349240" cy="2331720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19" name="Rounded Rectangle 18"/>
          <p:cNvSpPr/>
          <p:nvPr/>
        </p:nvSpPr>
        <p:spPr>
          <a:xfrm>
            <a:off x="6126479" y="2551175"/>
            <a:ext cx="5020055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7" y="2606039"/>
            <a:ext cx="480060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Steel factory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16751" y="3328416"/>
            <a:ext cx="256032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ridge_62_1176x11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255264"/>
            <a:ext cx="256032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3" name="Rounded Rectangle 22"/>
          <p:cNvSpPr/>
          <p:nvPr/>
        </p:nvSpPr>
        <p:spPr>
          <a:xfrm>
            <a:off x="6126479" y="5394960"/>
            <a:ext cx="223113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5449824"/>
            <a:ext cx="2011679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Steel in cities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1392" y="3328416"/>
            <a:ext cx="2514600" cy="2578608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uture_63_1155x11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3255264"/>
            <a:ext cx="2514600" cy="2578608"/>
          </a:xfrm>
          <a:prstGeom prst="rect">
            <a:avLst/>
          </a:prstGeom>
          <a:ln w="17780">
            <a:solidFill>
              <a:srgbClr val="FFFFFF"/>
            </a:solidFill>
          </a:ln>
        </p:spPr>
      </p:pic>
      <p:sp>
        <p:nvSpPr>
          <p:cNvPr id="27" name="Rounded Rectangle 26"/>
          <p:cNvSpPr/>
          <p:nvPr/>
        </p:nvSpPr>
        <p:spPr>
          <a:xfrm>
            <a:off x="8961119" y="5394960"/>
            <a:ext cx="2185416" cy="310896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5449824"/>
            <a:ext cx="19659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Future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19088"/>
            <a:ext cx="4023360" cy="1645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800" b="0">
                <a:solidFill>
                  <a:srgbClr val="646D77"/>
                </a:solidFill>
                <a:latin typeface="Aptos"/>
              </a:rPr>
              <a:t>Iron: from element to modern industry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69880" y="6382512"/>
            <a:ext cx="822960" cy="54864"/>
          </a:xfrm>
          <a:prstGeom prst="rect">
            <a:avLst/>
          </a:prstGeom>
          <a:solidFill>
            <a:srgbClr val="B55C3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